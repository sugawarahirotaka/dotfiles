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8dba7847648aa" /><Relationship Type="http://schemas.openxmlformats.org/officeDocument/2006/relationships/extended-properties" Target="/docProps/app.xml" Id="R9527b2b89c7343be" /><Relationship Type="http://schemas.openxmlformats.org/officeDocument/2006/relationships/officeDocument" Target="/ppt/presentation.xml" Id="R2ea704c319de43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99872014f48a9"/>
  </p:sldMasterIdLst>
  <p:notesMasterIdLst>
    <p:notesMasterId xmlns:r="http://schemas.openxmlformats.org/officeDocument/2006/relationships" r:id="R7b9832fb13534ae8"/>
  </p:notesMasterIdLst>
  <p:sldIdLst>
    <p:sldId xmlns:r="http://schemas.openxmlformats.org/officeDocument/2006/relationships" id="256" r:id="R045d55f40a6b4d86"/>
    <p:sldId xmlns:r="http://schemas.openxmlformats.org/officeDocument/2006/relationships" id="257" r:id="R260c0a6634f641d1"/>
    <p:sldId xmlns:r="http://schemas.openxmlformats.org/officeDocument/2006/relationships" id="258" r:id="R68e14481cb084d8f"/>
    <p:sldId xmlns:r="http://schemas.openxmlformats.org/officeDocument/2006/relationships" id="259" r:id="Rbe2f0f7c105d4b3f"/>
    <p:sldId xmlns:r="http://schemas.openxmlformats.org/officeDocument/2006/relationships" id="260" r:id="Re26f6a13d7a548c4"/>
    <p:sldId xmlns:r="http://schemas.openxmlformats.org/officeDocument/2006/relationships" id="261" r:id="R85c8890b2f3d41f8"/>
    <p:sldId xmlns:r="http://schemas.openxmlformats.org/officeDocument/2006/relationships" id="262" r:id="R84898aa79ba04964"/>
    <p:sldId xmlns:r="http://schemas.openxmlformats.org/officeDocument/2006/relationships" id="263" r:id="Racebb9b276734a4e"/>
    <p:sldId xmlns:r="http://schemas.openxmlformats.org/officeDocument/2006/relationships" id="264" r:id="R11ff06413adc42cc"/>
    <p:sldId xmlns:r="http://schemas.openxmlformats.org/officeDocument/2006/relationships" id="265" r:id="R1b4131ef965d4df0"/>
  </p:sldIdLst>
  <p:sldSz cx="97536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be990a8f94a75" /><Relationship Type="http://schemas.openxmlformats.org/officeDocument/2006/relationships/slideMaster" Target="/ppt/slideMasters/slideMaster1.xml" Id="R36699872014f48a9" /><Relationship Type="http://schemas.openxmlformats.org/officeDocument/2006/relationships/notesMaster" Target="/ppt/notesMasters/notesMaster1.xml" Id="R7b9832fb13534ae8" /><Relationship Type="http://schemas.openxmlformats.org/officeDocument/2006/relationships/presProps" Target="/ppt/presProps.xml" Id="Re099578982884fb9" /><Relationship Type="http://schemas.openxmlformats.org/officeDocument/2006/relationships/tableStyles" Target="/ppt/tableStyles.xml" Id="R6c10883779974d9d" /><Relationship Type="http://schemas.openxmlformats.org/officeDocument/2006/relationships/slide" Target="/ppt/slides/slide1.xml" Id="R045d55f40a6b4d86" /><Relationship Type="http://schemas.openxmlformats.org/officeDocument/2006/relationships/slide" Target="/ppt/slides/slide2.xml" Id="R260c0a6634f641d1" /><Relationship Type="http://schemas.openxmlformats.org/officeDocument/2006/relationships/slide" Target="/ppt/slides/slide3.xml" Id="R68e14481cb084d8f" /><Relationship Type="http://schemas.openxmlformats.org/officeDocument/2006/relationships/slide" Target="/ppt/slides/slide4.xml" Id="Rbe2f0f7c105d4b3f" /><Relationship Type="http://schemas.openxmlformats.org/officeDocument/2006/relationships/slide" Target="/ppt/slides/slide5.xml" Id="Re26f6a13d7a548c4" /><Relationship Type="http://schemas.openxmlformats.org/officeDocument/2006/relationships/slide" Target="/ppt/slides/slide6.xml" Id="R85c8890b2f3d41f8" /><Relationship Type="http://schemas.openxmlformats.org/officeDocument/2006/relationships/slide" Target="/ppt/slides/slide7.xml" Id="R84898aa79ba04964" /><Relationship Type="http://schemas.openxmlformats.org/officeDocument/2006/relationships/slide" Target="/ppt/slides/slide8.xml" Id="Racebb9b276734a4e" /><Relationship Type="http://schemas.openxmlformats.org/officeDocument/2006/relationships/slide" Target="/ppt/slides/slide9.xml" Id="R11ff06413adc42cc" /><Relationship Type="http://schemas.openxmlformats.org/officeDocument/2006/relationships/slide" Target="/ppt/slides/slide10.xml" Id="R1b4131ef965d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d80d9243c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23cd42d554835" /><Relationship Type="http://schemas.openxmlformats.org/officeDocument/2006/relationships/notesMaster" Target="/ppt/notesMasters/notesMaster1.xml" Id="Raf80d8473f69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f2b3d7a204f92" /><Relationship Type="http://schemas.openxmlformats.org/officeDocument/2006/relationships/notesMaster" Target="/ppt/notesMasters/notesMaster1.xml" Id="Rcf461febe82d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785bc8975f4f20" /><Relationship Type="http://schemas.openxmlformats.org/officeDocument/2006/relationships/notesMaster" Target="/ppt/notesMasters/notesMaster1.xml" Id="R039b919582c548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607b7941284197" /><Relationship Type="http://schemas.openxmlformats.org/officeDocument/2006/relationships/notesMaster" Target="/ppt/notesMasters/notesMaster1.xml" Id="R773baa07fcaf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f80de4511f40f0" /><Relationship Type="http://schemas.openxmlformats.org/officeDocument/2006/relationships/notesMaster" Target="/ppt/notesMasters/notesMaster1.xml" Id="R6a63108cd4c641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e58daaadd4960" /><Relationship Type="http://schemas.openxmlformats.org/officeDocument/2006/relationships/notesMaster" Target="/ppt/notesMasters/notesMaster1.xml" Id="R6e7f246a649445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2f3a5d82bb44b1" /><Relationship Type="http://schemas.openxmlformats.org/officeDocument/2006/relationships/notesMaster" Target="/ppt/notesMasters/notesMaster1.xml" Id="Rb18a10387ac446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aed22b290a40fd" /><Relationship Type="http://schemas.openxmlformats.org/officeDocument/2006/relationships/notesMaster" Target="/ppt/notesMasters/notesMaster1.xml" Id="R305a878a627547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f02d7e7e7547a4" /><Relationship Type="http://schemas.openxmlformats.org/officeDocument/2006/relationships/notesMaster" Target="/ppt/notesMasters/notesMaster1.xml" Id="R7df0241f397b44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2b7d8a54dc44c4" /><Relationship Type="http://schemas.openxmlformats.org/officeDocument/2006/relationships/notesMaster" Target="/ppt/notesMasters/notesMaster1.xml" Id="R54d666f0ab00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minimal title</a:t>
            </a:r>
          </a:p>
          <a:p xmlns:a="http://schemas.openxmlformats.org/drawingml/2006/main">
            <a:r>
              <a:t>Replace: deck-title, affiliation, author, event-meta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agenda and section transition</a:t>
            </a:r>
          </a:p>
          <a:p xmlns:a="http://schemas.openxmlformats.org/drawingml/2006/main">
            <a:r>
              <a:t>Replace: agenda-items, current-section-marker, slide-number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problem-to-solution comparison</a:t>
            </a:r>
          </a:p>
          <a:p xmlns:a="http://schemas.openxmlformats.org/drawingml/2006/main">
            <a:r>
              <a:t>Replace: lead-claim, traditional-copy, proposed-copy,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controlled comparison</a:t>
            </a:r>
          </a:p>
          <a:p xmlns:a="http://schemas.openxmlformats.org/drawingml/2006/main">
            <a:r>
              <a:t>Replace: baseline-chart, proposed-chart, baseline-annotation, proposed-annotation,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algorithm or mechanism</a:t>
            </a:r>
          </a:p>
          <a:p xmlns:a="http://schemas.openxmlformats.org/drawingml/2006/main">
            <a:r>
              <a:t>Replace: algorithm-lead, observed-data, regression-model, pseudo-data, bo-copy,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single decisive result</a:t>
            </a:r>
          </a:p>
          <a:p xmlns:a="http://schemas.openxmlformats.org/drawingml/2006/main">
            <a:r>
              <a:t>Replace: main-result-chart, result-summary, result-tag, takeaway-message, source-footer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small-multiple comparison</a:t>
            </a:r>
          </a:p>
          <a:p xmlns:a="http://schemas.openxmlformats.org/drawingml/2006/main">
            <a:r>
              <a:t>Replace: small-multiple-1..4, condition-1..4,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equation derivation with semantic annotations</a:t>
            </a:r>
          </a:p>
          <a:p xmlns:a="http://schemas.openxmlformats.org/drawingml/2006/main">
            <a:r>
              <a:t>Replace: derivation-question, equation-1..3, meaning-tag-1..2, equation-meaning,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question-hypothesis-test-result</a:t>
            </a:r>
          </a:p>
          <a:p xmlns:a="http://schemas.openxmlformats.org/drawingml/2006/main">
            <a:r>
              <a:t>Replace: hypothesis, test-plan, ablation-chart-a, ablation-chart-b, test-result,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guidance] Role: synthesis and next action</a:t>
            </a:r>
          </a:p>
          <a:p xmlns:a="http://schemas.openxmlformats.org/drawingml/2006/main">
            <a:r>
              <a:t>Replace: summary-bullets, summary-synthesis, next-bullets, next-timeline, takeaway-message</a:t>
            </a:r>
          </a:p>
          <a:p xmlns:a="http://schemas.openxmlformats.org/drawingml/2006/main">
            <a:r>
              <a:t>Preserve the 4:3 canvas, blue header, type scale, flat styling, and one-slide-one-message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f0e8370a3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c3b5eb44c4333" /><Relationship Type="http://schemas.openxmlformats.org/officeDocument/2006/relationships/slideLayout" Target="/ppt/slideLayouts/slideLayout1.xml" Id="R4c2e1374bf2f48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2e1374bf2f48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683a56da545c0" /><Relationship Type="http://schemas.openxmlformats.org/officeDocument/2006/relationships/notesSlide" Target="/ppt/notesSlides/notesSlide1.xml" Id="R787020c46362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4eda9e08440b" /><Relationship Type="http://schemas.openxmlformats.org/officeDocument/2006/relationships/notesSlide" Target="/ppt/notesSlides/notesSlide2.xml" Id="R36d7f2d8d485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af60494db4a03" /><Relationship Type="http://schemas.openxmlformats.org/officeDocument/2006/relationships/notesSlide" Target="/ppt/notesSlides/notesSlide3.xml" Id="Rc8bbfaacaaa740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e5eeeb2de4978" /><Relationship Type="http://schemas.openxmlformats.org/officeDocument/2006/relationships/chart" Target="/ppt/slides/charts/chart1.xml" Id="R349626000e6d41fb" /><Relationship Type="http://schemas.openxmlformats.org/officeDocument/2006/relationships/chart" Target="/ppt/slides/charts/chart2.xml" Id="Rd342b874b840493a" /><Relationship Type="http://schemas.openxmlformats.org/officeDocument/2006/relationships/notesSlide" Target="/ppt/notesSlides/notesSlide4.xml" Id="Ra967469444ce48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3a84325664d7c" /><Relationship Type="http://schemas.openxmlformats.org/officeDocument/2006/relationships/notesSlide" Target="/ppt/notesSlides/notesSlide5.xml" Id="R58274f5f63ed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721f224a14234" /><Relationship Type="http://schemas.openxmlformats.org/officeDocument/2006/relationships/chart" Target="/ppt/slides/charts/chart3.xml" Id="R72958450da864e5a" /><Relationship Type="http://schemas.openxmlformats.org/officeDocument/2006/relationships/notesSlide" Target="/ppt/notesSlides/notesSlide6.xml" Id="R0395e4504c1644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226bd616c44b0" /><Relationship Type="http://schemas.openxmlformats.org/officeDocument/2006/relationships/chart" Target="/ppt/slides/charts/chart4.xml" Id="Raa4f4006c56b45a9" /><Relationship Type="http://schemas.openxmlformats.org/officeDocument/2006/relationships/chart" Target="/ppt/slides/charts/chart5.xml" Id="R86d16860a76941a4" /><Relationship Type="http://schemas.openxmlformats.org/officeDocument/2006/relationships/chart" Target="/ppt/slides/charts/chart6.xml" Id="R3b7f9355527d437d" /><Relationship Type="http://schemas.openxmlformats.org/officeDocument/2006/relationships/chart" Target="/ppt/slides/charts/chart7.xml" Id="Rd19653219ebc416f" /><Relationship Type="http://schemas.openxmlformats.org/officeDocument/2006/relationships/notesSlide" Target="/ppt/notesSlides/notesSlide7.xml" Id="R8d3986c10e02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89843519a4b7c" /><Relationship Type="http://schemas.openxmlformats.org/officeDocument/2006/relationships/notesSlide" Target="/ppt/notesSlides/notesSlide8.xml" Id="Re62355023168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ebd6a2f4a4254" /><Relationship Type="http://schemas.openxmlformats.org/officeDocument/2006/relationships/chart" Target="/ppt/slides/charts/chart8.xml" Id="R28a3d9e2775447d7" /><Relationship Type="http://schemas.openxmlformats.org/officeDocument/2006/relationships/chart" Target="/ppt/slides/charts/chart9.xml" Id="Rcc4fe93380a747fd" /><Relationship Type="http://schemas.openxmlformats.org/officeDocument/2006/relationships/notesSlide" Target="/ppt/notesSlides/notesSlide9.xml" Id="R9aa95197d53844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e286b2805486b" /><Relationship Type="http://schemas.openxmlformats.org/officeDocument/2006/relationships/notesSlide" Target="/ppt/notesSlides/notesSlide10.xml" Id="R952a3b8492654f9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33338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33338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11111"/>
                    </a:solidFill>
                  </a:rPr>
                  <a:t>イテレーション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66666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33338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33338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11111"/>
                    </a:solidFill>
                  </a:rPr>
                  <a:t>イテレーション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666666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33338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33338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11111"/>
                    </a:solidFill>
                  </a:rPr>
                  <a:t>イテレーション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666666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提案手法</c:v>
          </c:tx>
          <c:spPr>
            <a:ln xmlns:a="http://schemas.openxmlformats.org/drawingml/2006/main" w="23813">
              <a:solidFill>
                <a:srgbClr val="0076BA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0.54</c:v>
              </c:pt>
              <c:pt idx="2">
                <c:v>0.31</c:v>
              </c:pt>
              <c:pt idx="3">
                <c:v>0.2</c:v>
              </c:pt>
              <c:pt idx="4">
                <c:v>0.14</c:v>
              </c:pt>
            </c:numLit>
          </c:val>
        </c:ser>
        <c:ser>
          <c:idx val="1"/>
          <c:order val="1"/>
          <c:tx>
            <c:v>従来手法</c:v>
          </c:tx>
          <c:spPr>
            <a:ln xmlns:a="http://schemas.openxmlformats.org/drawingml/2006/main" w="23813">
              <a:solidFill>
                <a:srgbClr val="158620"/>
              </a:solidFill>
              <a:prstDash val="solid"/>
            </a:ln>
          </c:spPr>
          <c:marker>
            <c:symbol val="none"/>
            <c:size val="4"/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</c:num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0.75</c:v>
              </c:pt>
              <c:pt idx="2">
                <c:v>0.61</c:v>
              </c:pt>
              <c:pt idx="3">
                <c:v>0.5</c:v>
              </c:pt>
              <c:pt idx="4">
                <c:v>0.44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66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8E8E8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8E8E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E8282404-8709-4518-A56C-1E3C040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43150"/>
            <a:ext cx="97536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BA59327-FEF5-4089-84CC-105F582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8305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研究タイトルを1–2行で置く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主張の焦点が伝わる短い表現</a:t>
            </a:r>
          </a:p>
        </p:txBody>
      </p:sp>
      <p:sp>
        <p:nvSpPr>
          <p:cNvPr id="3" name="affiliation">
            <a:extLst xmlns:a="http://schemas.openxmlformats.org/drawingml/2006/main">
              <a:ext uri="{FF2B5EF4-FFF2-40B4-BE49-F238E27FC236}">
                <a16:creationId xmlns:a16="http://schemas.microsoft.com/office/drawing/2014/main" id="{2F5A9307-A6AF-4FD0-8549-F7A8EC8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システム生物学研究室</a:t>
            </a:r>
          </a:p>
        </p:txBody>
      </p:sp>
      <p:sp>
        <p:nvSpPr>
          <p:cNvPr id="4" name="author">
            <a:extLst xmlns:a="http://schemas.openxmlformats.org/drawingml/2006/main">
              <a:ext uri="{FF2B5EF4-FFF2-40B4-BE49-F238E27FC236}">
                <a16:creationId xmlns:a16="http://schemas.microsoft.com/office/drawing/2014/main" id="{0844A279-B192-45BD-8768-1D5A6F0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816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菅原弘貴</a:t>
            </a:r>
          </a:p>
        </p:txBody>
      </p:sp>
      <p:sp>
        <p:nvSpPr>
          <p:cNvPr id="5" name="event-meta">
            <a:extLst xmlns:a="http://schemas.openxmlformats.org/drawingml/2006/main">
              <a:ext uri="{FF2B5EF4-FFF2-40B4-BE49-F238E27FC236}">
                <a16:creationId xmlns:a16="http://schemas.microsoft.com/office/drawing/2014/main" id="{090FD4CE-D8F1-4447-9F67-FF2CB12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2293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発表名／日付／学年／氏名</a:t>
            </a:r>
          </a:p>
        </p:txBody>
      </p:sp>
    </p:spTree>
    <p:extLst>
      <p:ext uri="{BB962C8B-B14F-4D97-AF65-F5344CB8AC3E}">
        <p14:creationId xmlns:p14="http://schemas.microsoft.com/office/powerpoint/2010/main" val="1814067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38C61C9-0FEE-47D1-9087-DBAEBA0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F3D790F-A35B-482E-A2EB-315FEEEC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FD0D40-669F-4768-9DB8-1DB820CD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目次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427673-27F5-412E-AF8B-5265D16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 /10</a:t>
            </a:r>
          </a:p>
        </p:txBody>
      </p:sp>
      <p:sp>
        <p:nvSpPr>
          <p:cNvPr id="5" name="agenda-items">
            <a:extLst xmlns:a="http://schemas.openxmlformats.org/drawingml/2006/main">
              <a:ext uri="{FF2B5EF4-FFF2-40B4-BE49-F238E27FC236}">
                <a16:creationId xmlns:a16="http://schemas.microsoft.com/office/drawing/2014/main" id="{F15EAD52-D270-4CA2-8041-F5D7236C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066800"/>
            <a:ext cx="73914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1. 背景・目的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1.1 問題設定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1.2 既存手法の限界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2. 提案手法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2.1 中心アイデア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2.2 アルゴリズム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3. 実験結果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3.1 比較結果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  3.2 原因分析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4. 今後の計画</a:t>
            </a:r>
          </a:p>
        </p:txBody>
      </p:sp>
      <p:sp>
        <p:nvSpPr>
          <p:cNvPr id="6" name="current-section-marker">
            <a:extLst xmlns:a="http://schemas.openxmlformats.org/drawingml/2006/main">
              <a:ext uri="{FF2B5EF4-FFF2-40B4-BE49-F238E27FC236}">
                <a16:creationId xmlns:a16="http://schemas.microsoft.com/office/drawing/2014/main" id="{B058A9ED-34D6-42F4-B9FB-D3079AD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20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22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guidance">
            <a:extLst xmlns:a="http://schemas.openxmlformats.org/drawingml/2006/main">
              <a:ext uri="{FF2B5EF4-FFF2-40B4-BE49-F238E27FC236}">
                <a16:creationId xmlns:a16="http://schemas.microsoft.com/office/drawing/2014/main" id="{0B526E16-A3C5-41DB-9983-04A7406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67450"/>
            <a:ext cx="739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220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E220C"/>
                </a:solidFill>
                <a:latin typeface="Hiragino Sans"/>
                <a:ea typeface="Hiragino Sans"/>
                <a:cs typeface="Hiragino Sans"/>
              </a:rPr>
              <a:t>節の切り替わりで再掲し、現在地だけを赤で示す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FAB7CE-D6BD-4250-8079-9461CF62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B633824-3C54-4987-B0CE-0645187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出典・条件・注記を14–16 pxで配置</a:t>
            </a:r>
          </a:p>
        </p:txBody>
      </p:sp>
    </p:spTree>
    <p:extLst>
      <p:ext uri="{BB962C8B-B14F-4D97-AF65-F5344CB8AC3E}">
        <p14:creationId xmlns:p14="http://schemas.microsoft.com/office/powerpoint/2010/main" val="237325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F8F9E47-38DC-4C8E-8E94-0F35007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36DAD0-B82C-4E95-88BB-4045CA64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背景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958087-C2F0-410A-B3DB-27BF76E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研究課題と解決の方向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B80005-0E95-42AD-B2C2-887E599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 /10</a:t>
            </a:r>
          </a:p>
        </p:txBody>
      </p:sp>
      <p:sp>
        <p:nvSpPr>
          <p:cNvPr id="5" name="lead-claim">
            <a:extLst xmlns:a="http://schemas.openxmlformats.org/drawingml/2006/main">
              <a:ext uri="{FF2B5EF4-FFF2-40B4-BE49-F238E27FC236}">
                <a16:creationId xmlns:a16="http://schemas.microsoft.com/office/drawing/2014/main" id="{9F11B78A-4621-4C5B-97E3-07A5DD7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/>
              <a:t>課題  </a:t>
            </a:r>
            <a:r>
              <a:t>実験回数を増やさずに、</a:t>
            </a:r>
            <a:r>
              <a:rPr b="1">
                <a:solidFill>
                  <a:srgbClr val="EE220C"/>
                </a:solidFill>
              </a:rPr>
              <a:t>より良い条件へ早く到達</a:t>
            </a:r>
            <a:r>
              <a:t>したい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16ACF0F7-F88F-4FB7-863E-0F97D7D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従来</a:t>
            </a:r>
          </a:p>
        </p:txBody>
      </p:sp>
      <p:sp>
        <p:nvSpPr>
          <p:cNvPr id="7" name="right-label">
            <a:extLst xmlns:a="http://schemas.openxmlformats.org/drawingml/2006/main">
              <a:ext uri="{FF2B5EF4-FFF2-40B4-BE49-F238E27FC236}">
                <a16:creationId xmlns:a16="http://schemas.microsoft.com/office/drawing/2014/main" id="{FD1B45E5-6406-4FB1-9002-3078390E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04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</a:t>
            </a:r>
          </a:p>
        </p:txBody>
      </p:sp>
      <p:sp>
        <p:nvSpPr>
          <p:cNvPr id="8" name="traditional-frame">
            <a:extLst xmlns:a="http://schemas.openxmlformats.org/drawingml/2006/main">
              <a:ext uri="{FF2B5EF4-FFF2-40B4-BE49-F238E27FC236}">
                <a16:creationId xmlns:a16="http://schemas.microsoft.com/office/drawing/2014/main" id="{45109F35-876C-4CEC-89B8-F0E0054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057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9" name="proposed-frame">
            <a:extLst xmlns:a="http://schemas.openxmlformats.org/drawingml/2006/main">
              <a:ext uri="{FF2B5EF4-FFF2-40B4-BE49-F238E27FC236}">
                <a16:creationId xmlns:a16="http://schemas.microsoft.com/office/drawing/2014/main" id="{CF09AFA0-752C-46F8-874C-5636DAD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41529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B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</p:sp>
      <p:sp>
        <p:nvSpPr>
          <p:cNvPr id="10" name="traditional-copy">
            <a:extLst xmlns:a="http://schemas.openxmlformats.org/drawingml/2006/main">
              <a:ext uri="{FF2B5EF4-FFF2-40B4-BE49-F238E27FC236}">
                <a16:creationId xmlns:a16="http://schemas.microsoft.com/office/drawing/2014/main" id="{5E957032-3E59-4190-A3A1-88F7EEC4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429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実験 → 観測 → 次条件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1回ずつデータを追加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収束までの待ち時間が長い</a:t>
            </a:r>
          </a:p>
        </p:txBody>
      </p:sp>
      <p:sp>
        <p:nvSpPr>
          <p:cNvPr id="11" name="proposed-copy">
            <a:extLst xmlns:a="http://schemas.openxmlformats.org/drawingml/2006/main">
              <a:ext uri="{FF2B5EF4-FFF2-40B4-BE49-F238E27FC236}">
                <a16:creationId xmlns:a16="http://schemas.microsoft.com/office/drawing/2014/main" id="{780CD559-B88C-4A73-916E-48A479DB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3390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実験データ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回帰モデル → 擬似データ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次条件を提案</a:t>
            </a:r>
          </a:p>
        </p:txBody>
      </p:sp>
      <p:sp>
        <p:nvSpPr>
          <p:cNvPr id="12" name="proposal-tag">
            <a:extLst xmlns:a="http://schemas.openxmlformats.org/drawingml/2006/main">
              <a:ext uri="{FF2B5EF4-FFF2-40B4-BE49-F238E27FC236}">
                <a16:creationId xmlns:a16="http://schemas.microsoft.com/office/drawing/2014/main" id="{3AE7C695-F9DF-4F21-9298-7069725F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9525">
            <a:solidFill>
              <a:srgbClr val="00A89D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少数の実験を補う</a:t>
            </a:r>
          </a:p>
        </p:txBody>
      </p:sp>
      <p:sp>
        <p:nvSpPr>
          <p:cNvPr id="13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225F02E4-2F5C-4856-9F0D-6509C19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103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77E5E9F3-FB00-4801-B43F-C2D8CB6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回帰モデルを利用し、</a:t>
            </a:r>
            <a:r>
              <a:rPr b="1">
                <a:solidFill>
                  <a:srgbClr val="EE220C"/>
                </a:solidFill>
              </a:rPr>
              <a:t>最適化に要する時間を短縮</a:t>
            </a:r>
            <a:r>
              <a:t>する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9801F8-6A4C-4A73-9FEE-B7B03EBB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AAEAA8C-A164-45D6-B36A-3DD11BD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出典・条件・注記を14–16 pxで配置</a:t>
            </a:r>
          </a:p>
        </p:txBody>
      </p:sp>
    </p:spTree>
    <p:extLst>
      <p:ext uri="{BB962C8B-B14F-4D97-AF65-F5344CB8AC3E}">
        <p14:creationId xmlns:p14="http://schemas.microsoft.com/office/powerpoint/2010/main" val="1869471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55311BB-F189-4630-9CAF-B67154A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429894-C511-4F6A-B182-3DB97DC5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8328CA-E1CD-4591-8AC5-A3D50F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従来手法と提案手法を同じ条件で比較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51BB785-0E8C-4921-9D6B-ED19B39F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 /10</a:t>
            </a:r>
          </a:p>
        </p:txBody>
      </p:sp>
      <p:sp>
        <p:nvSpPr>
          <p:cNvPr id="5" name="left-chart-label">
            <a:extLst xmlns:a="http://schemas.openxmlformats.org/drawingml/2006/main">
              <a:ext uri="{FF2B5EF4-FFF2-40B4-BE49-F238E27FC236}">
                <a16:creationId xmlns:a16="http://schemas.microsoft.com/office/drawing/2014/main" id="{8693A332-8AF9-49C3-8D57-D14D6695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従来手法</a:t>
            </a:r>
          </a:p>
        </p:txBody>
      </p:sp>
      <p:sp>
        <p:nvSpPr>
          <p:cNvPr id="6" name="right-chart-label">
            <a:extLst xmlns:a="http://schemas.openxmlformats.org/drawingml/2006/main">
              <a:ext uri="{FF2B5EF4-FFF2-40B4-BE49-F238E27FC236}">
                <a16:creationId xmlns:a16="http://schemas.microsoft.com/office/drawing/2014/main" id="{CF84841B-0D81-4B7A-87BF-5178AED6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19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提案手法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95300" y="1200150"/>
          <a:ext xmlns:a="http://schemas.openxmlformats.org/drawingml/2006/main" cx="4095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9626000e6d41fb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62550" y="1200150"/>
          <a:ext xmlns:a="http://schemas.openxmlformats.org/drawingml/2006/main" cx="4095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42b874b840493a"/>
          </a:graphicData>
        </a:graphic>
      </p:graphicFrame>
      <p:sp>
        <p:nvSpPr>
          <p:cNvPr id="9" name="baseline-annotation">
            <a:extLst xmlns:a="http://schemas.openxmlformats.org/drawingml/2006/main">
              <a:ext uri="{FF2B5EF4-FFF2-40B4-BE49-F238E27FC236}">
                <a16:creationId xmlns:a16="http://schemas.microsoft.com/office/drawing/2014/main" id="{C2D2ABCC-EDED-4499-B1F8-8FB29A40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E220C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E220C"/>
                </a:solidFill>
                <a:latin typeface="Hiragino Sans"/>
                <a:ea typeface="Hiragino Sans"/>
                <a:cs typeface="Hiragino Sans"/>
              </a:rPr>
              <a:t>収束が遅い</a:t>
            </a:r>
          </a:p>
        </p:txBody>
      </p:sp>
      <p:sp>
        <p:nvSpPr>
          <p:cNvPr id="10" name="proposed-annotation">
            <a:extLst xmlns:a="http://schemas.openxmlformats.org/drawingml/2006/main">
              <a:ext uri="{FF2B5EF4-FFF2-40B4-BE49-F238E27FC236}">
                <a16:creationId xmlns:a16="http://schemas.microsoft.com/office/drawing/2014/main" id="{E8A2F014-5C9E-4BCD-88F1-38F2912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482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76B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076BA"/>
                </a:solidFill>
                <a:latin typeface="Hiragino Sans"/>
                <a:ea typeface="Hiragino Sans"/>
                <a:cs typeface="Hiragino Sans"/>
              </a:rPr>
              <a:t>早く良い条件へ到達</a:t>
            </a:r>
          </a:p>
        </p:txBody>
      </p:sp>
      <p:sp>
        <p:nvSpPr>
          <p:cNvPr id="11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03EAB821-C655-4880-9EEC-1E9E2468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2D11A7F2-B6B5-432E-8D29-038760F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同じ実験予算でも、提案手法は</a:t>
            </a:r>
            <a:r>
              <a:rPr b="1">
                <a:solidFill>
                  <a:srgbClr val="EE220C"/>
                </a:solidFill>
              </a:rPr>
              <a:t>探索初期から差を広げる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B51560-AC24-4455-B7CB-830E035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D86B607-418B-45F8-A164-88F53269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出典・条件・注記を14–16 pxで配置</a:t>
            </a:r>
          </a:p>
        </p:txBody>
      </p:sp>
    </p:spTree>
    <p:extLst>
      <p:ext uri="{BB962C8B-B14F-4D97-AF65-F5344CB8AC3E}">
        <p14:creationId xmlns:p14="http://schemas.microsoft.com/office/powerpoint/2010/main" val="1586914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1625AB6-F4FA-4E71-8667-7C7E6995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D3BCEB-5B10-42A4-862C-B1981650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手法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13A55B-3A1B-4545-A8D4-EA1F3DF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提案手法のアルゴリズム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23B33D-E2A0-4674-A91C-5D70621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 /10</a:t>
            </a:r>
          </a:p>
        </p:txBody>
      </p:sp>
      <p:sp>
        <p:nvSpPr>
          <p:cNvPr id="5" name="algorithm-lead">
            <a:extLst xmlns:a="http://schemas.openxmlformats.org/drawingml/2006/main">
              <a:ext uri="{FF2B5EF4-FFF2-40B4-BE49-F238E27FC236}">
                <a16:creationId xmlns:a16="http://schemas.microsoft.com/office/drawing/2014/main" id="{0247F8E8-6671-4F50-9369-B61738E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72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1回の実験データから複数の擬似データを生成し、次条件の探索に使う</a:t>
            </a:r>
          </a:p>
        </p:txBody>
      </p:sp>
      <p:sp>
        <p:nvSpPr>
          <p:cNvPr id="6" name="observed-data">
            <a:extLst xmlns:a="http://schemas.openxmlformats.org/drawingml/2006/main">
              <a:ext uri="{FF2B5EF4-FFF2-40B4-BE49-F238E27FC236}">
                <a16:creationId xmlns:a16="http://schemas.microsoft.com/office/drawing/2014/main" id="{ADD5F85A-0F6D-488E-84E3-3C87D25A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実験データ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(x, y)</a:t>
            </a:r>
          </a:p>
        </p:txBody>
      </p:sp>
      <p:sp>
        <p:nvSpPr>
          <p:cNvPr id="7" name="regression-model">
            <a:extLst xmlns:a="http://schemas.openxmlformats.org/drawingml/2006/main">
              <a:ext uri="{FF2B5EF4-FFF2-40B4-BE49-F238E27FC236}">
                <a16:creationId xmlns:a16="http://schemas.microsoft.com/office/drawing/2014/main" id="{67F77238-6F03-4C5A-80C3-9EC6A9E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240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BA"/>
          </a:solidFill>
          <a:ln xmlns:a="http://schemas.openxmlformats.org/drawingml/2006/main" w="19050">
            <a:solidFill>
              <a:srgbClr val="FF93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回帰モデル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fₚ(x)</a:t>
            </a:r>
          </a:p>
        </p:txBody>
      </p:sp>
      <p:sp>
        <p:nvSpPr>
          <p:cNvPr id="8" name="pseudo-data">
            <a:extLst xmlns:a="http://schemas.openxmlformats.org/drawingml/2006/main">
              <a:ext uri="{FF2B5EF4-FFF2-40B4-BE49-F238E27FC236}">
                <a16:creationId xmlns:a16="http://schemas.microsoft.com/office/drawing/2014/main" id="{0A4C276C-366B-44E2-A815-9FB46C10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B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擬似データ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(x′, fₚ(x′))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90800" y="21907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2190750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1" name="bo-frame">
            <a:extLst xmlns:a="http://schemas.openxmlformats.org/drawingml/2006/main">
              <a:ext uri="{FF2B5EF4-FFF2-40B4-BE49-F238E27FC236}">
                <a16:creationId xmlns:a16="http://schemas.microsoft.com/office/drawing/2014/main" id="{B38AEBF4-FA76-4B9D-9976-44C039F8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769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B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</p:sp>
      <p:sp>
        <p:nvSpPr>
          <p:cNvPr id="12" name="bo-copy">
            <a:extLst xmlns:a="http://schemas.openxmlformats.org/drawingml/2006/main">
              <a:ext uri="{FF2B5EF4-FFF2-40B4-BE49-F238E27FC236}">
                <a16:creationId xmlns:a16="http://schemas.microsoft.com/office/drawing/2014/main" id="{EDCCAEE1-F9CF-4B16-9B87-3111C47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29050"/>
            <a:ext cx="6781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ベイズ的最適化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観測データ + 擬似データ → 次の実験条件 xₜ₊₁</a:t>
            </a:r>
          </a:p>
        </p:txBody>
      </p:sp>
      <p:sp>
        <p:nvSpPr>
          <p:cNvPr id="13" name="sampling-tag">
            <a:extLst xmlns:a="http://schemas.openxmlformats.org/drawingml/2006/main">
              <a:ext uri="{FF2B5EF4-FFF2-40B4-BE49-F238E27FC236}">
                <a16:creationId xmlns:a16="http://schemas.microsoft.com/office/drawing/2014/main" id="{85D9E10B-7588-472A-9BC8-C177403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9525">
            <a:solidFill>
              <a:srgbClr val="00A89D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サンプリング</a:t>
            </a:r>
          </a:p>
        </p:txBody>
      </p:sp>
      <p:sp>
        <p:nvSpPr>
          <p:cNvPr id="14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1767F507-07DA-451A-B5DA-3AAF252B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1505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DA4915E4-C9ED-40BB-BE4F-17A6E00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>
                <a:solidFill>
                  <a:srgbClr val="EE220C"/>
                </a:solidFill>
              </a:rPr>
              <a:t>擬似データが探索を補助</a:t>
            </a:r>
            <a:r>
              <a:t>し、少ない実験で有望領域へ移る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F298843-4683-40E9-8764-53D51CE3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BFE808-0739-4296-AE81-E26922A9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出典・条件・注記を14–16 pxで配置</a:t>
            </a:r>
          </a:p>
        </p:txBody>
      </p:sp>
    </p:spTree>
    <p:extLst>
      <p:ext uri="{BB962C8B-B14F-4D97-AF65-F5344CB8AC3E}">
        <p14:creationId xmlns:p14="http://schemas.microsoft.com/office/powerpoint/2010/main" val="1111978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7E6D3D-6E26-46F5-8E65-2169E0B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4F3DED-F34F-4309-895D-441ED64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B7FB5-E9CD-4CE8-914B-3B7E075F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主結果は大きな図と短い解釈で示す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38E1F5-7B68-4D66-9C1D-5E4ACEF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 /10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95300" y="990600"/>
          <a:ext xmlns:a="http://schemas.openxmlformats.org/drawingml/2006/main" cx="594360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58450da864e5a"/>
          </a:graphicData>
        </a:graphic>
      </p:graphicFrame>
      <p:sp>
        <p:nvSpPr>
          <p:cNvPr id="6" name="result-summary-frame">
            <a:extLst xmlns:a="http://schemas.openxmlformats.org/drawingml/2006/main">
              <a:ext uri="{FF2B5EF4-FFF2-40B4-BE49-F238E27FC236}">
                <a16:creationId xmlns:a16="http://schemas.microsoft.com/office/drawing/2014/main" id="{030AABE9-ADBB-44EB-813D-71F665D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219200"/>
            <a:ext cx="25146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</p:sp>
      <p:sp>
        <p:nvSpPr>
          <p:cNvPr id="7" name="result-summary-title">
            <a:extLst xmlns:a="http://schemas.openxmlformats.org/drawingml/2006/main">
              <a:ext uri="{FF2B5EF4-FFF2-40B4-BE49-F238E27FC236}">
                <a16:creationId xmlns:a16="http://schemas.microsoft.com/office/drawing/2014/main" id="{482D898D-92E0-4B49-B730-9E2C4AA8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076B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0076BA"/>
                </a:solidFill>
                <a:latin typeface="Hiragino Sans"/>
                <a:ea typeface="Hiragino Sans"/>
                <a:cs typeface="Hiragino Sans"/>
              </a:rPr>
              <a:t>観察された差</a:t>
            </a:r>
          </a:p>
        </p:txBody>
      </p:sp>
      <p:sp>
        <p:nvSpPr>
          <p:cNvPr id="8" name="result-summary">
            <a:extLst xmlns:a="http://schemas.openxmlformats.org/drawingml/2006/main">
              <a:ext uri="{FF2B5EF4-FFF2-40B4-BE49-F238E27FC236}">
                <a16:creationId xmlns:a16="http://schemas.microsoft.com/office/drawing/2014/main" id="{03532503-8D4F-4E6F-8236-062FBAB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2000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初期から改善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ばらつきが小さい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終盤も優位</a:t>
            </a:r>
          </a:p>
        </p:txBody>
      </p:sp>
      <p:sp>
        <p:nvSpPr>
          <p:cNvPr id="9" name="result-tag">
            <a:extLst xmlns:a="http://schemas.openxmlformats.org/drawingml/2006/main">
              <a:ext uri="{FF2B5EF4-FFF2-40B4-BE49-F238E27FC236}">
                <a16:creationId xmlns:a16="http://schemas.microsoft.com/office/drawing/2014/main" id="{EE5086E9-CAE9-40C1-A04F-0D3FBE7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 = 30</a:t>
            </a:r>
          </a:p>
        </p:txBody>
      </p:sp>
      <p:sp>
        <p:nvSpPr>
          <p:cNvPr id="10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D7B4F8C4-BCAA-4B32-BDCD-54176F84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F5837A68-572D-4361-BF63-8BE0257C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提案手法は従来手法より</a:t>
            </a:r>
            <a:r>
              <a:rPr b="1">
                <a:solidFill>
                  <a:srgbClr val="EE220C"/>
                </a:solidFill>
              </a:rPr>
              <a:t>早く、安定して良い条件へ到達</a:t>
            </a:r>
            <a:r>
              <a:t>した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5E2F3B-B821-49E1-B8F5-6FA1080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F651153-A8CF-4BD7-B56E-A2DD1E2F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図の条件・評価指標・試行数・統計量を明記</a:t>
            </a:r>
          </a:p>
        </p:txBody>
      </p:sp>
    </p:spTree>
    <p:extLst>
      <p:ext uri="{BB962C8B-B14F-4D97-AF65-F5344CB8AC3E}">
        <p14:creationId xmlns:p14="http://schemas.microsoft.com/office/powerpoint/2010/main" val="1600813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9C30094-7444-4501-82B2-63C49124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B7BB1A8-552D-43D3-8F4C-CD63162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3AF0C5-9FAA-4747-A8BA-1970C48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条件ごとの傾向を同じ軸で比較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D5D151-65D0-4ED9-ADB0-B7505D94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 /10</a:t>
            </a:r>
          </a:p>
        </p:txBody>
      </p:sp>
      <p:sp>
        <p:nvSpPr>
          <p:cNvPr id="5" name="condition-1">
            <a:extLst xmlns:a="http://schemas.openxmlformats.org/drawingml/2006/main">
              <a:ext uri="{FF2B5EF4-FFF2-40B4-BE49-F238E27FC236}">
                <a16:creationId xmlns:a16="http://schemas.microsoft.com/office/drawing/2014/main" id="{1F0EA238-0C96-4A4B-9745-BD012F8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2次元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42950" y="1162050"/>
          <a:ext xmlns:a="http://schemas.openxmlformats.org/drawingml/2006/main" cx="37719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4f4006c56b45a9"/>
          </a:graphicData>
        </a:graphic>
      </p:graphicFrame>
      <p:sp>
        <p:nvSpPr>
          <p:cNvPr id="7" name="condition-2">
            <a:extLst xmlns:a="http://schemas.openxmlformats.org/drawingml/2006/main">
              <a:ext uri="{FF2B5EF4-FFF2-40B4-BE49-F238E27FC236}">
                <a16:creationId xmlns:a16="http://schemas.microsoft.com/office/drawing/2014/main" id="{51DE7FC2-E807-4653-83BE-7102BD1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38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5次元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257800" y="1162050"/>
          <a:ext xmlns:a="http://schemas.openxmlformats.org/drawingml/2006/main" cx="37719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d16860a76941a4"/>
          </a:graphicData>
        </a:graphic>
      </p:graphicFrame>
      <p:sp>
        <p:nvSpPr>
          <p:cNvPr id="9" name="condition-3">
            <a:extLst xmlns:a="http://schemas.openxmlformats.org/drawingml/2006/main">
              <a:ext uri="{FF2B5EF4-FFF2-40B4-BE49-F238E27FC236}">
                <a16:creationId xmlns:a16="http://schemas.microsoft.com/office/drawing/2014/main" id="{AABE41BD-C4CC-4A9B-8BA5-373BB899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10次元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42950" y="3600450"/>
          <a:ext xmlns:a="http://schemas.openxmlformats.org/drawingml/2006/main" cx="37719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7f9355527d437d"/>
          </a:graphicData>
        </a:graphic>
      </p:graphicFrame>
      <p:sp>
        <p:nvSpPr>
          <p:cNvPr id="11" name="condition-4">
            <a:extLst xmlns:a="http://schemas.openxmlformats.org/drawingml/2006/main">
              <a:ext uri="{FF2B5EF4-FFF2-40B4-BE49-F238E27FC236}">
                <a16:creationId xmlns:a16="http://schemas.microsoft.com/office/drawing/2014/main" id="{A308F9A5-2B66-483B-B674-941DC436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20次元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257800" y="3600450"/>
          <a:ext xmlns:a="http://schemas.openxmlformats.org/drawingml/2006/main" cx="37719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653219ebc416f"/>
          </a:graphicData>
        </a:graphic>
      </p:graphicFrame>
      <p:sp>
        <p:nvSpPr>
          <p:cNvPr id="13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114C9A21-41F1-4445-9082-11BA15B2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1505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572A225D-DB28-4960-8D50-4658976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低次元では同等だが、</a:t>
            </a:r>
            <a:r>
              <a:rPr b="1">
                <a:solidFill>
                  <a:srgbClr val="EE220C"/>
                </a:solidFill>
              </a:rPr>
              <a:t>高次元ほど提案手法の優位性が増す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DDD33A-07D0-4351-9FCF-EF96178F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2BE7D6B-F4FF-4C3F-A52E-9EEAC30B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小図は軸・色・凡例を統一し、比較できる条件を守る</a:t>
            </a:r>
          </a:p>
        </p:txBody>
      </p:sp>
    </p:spTree>
    <p:extLst>
      <p:ext uri="{BB962C8B-B14F-4D97-AF65-F5344CB8AC3E}">
        <p14:creationId xmlns:p14="http://schemas.microsoft.com/office/powerpoint/2010/main" val="1491559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0ACC1FE-A251-41B0-A61D-EB41E24D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95ABDA-230C-43CD-96D2-2FD0D65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手法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73A147-C5F7-4D07-9EAB-F77F377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数式は変形の目的と意味を色で追わせる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C2F4D7-BDAD-492F-BE19-691246F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 /10</a:t>
            </a:r>
          </a:p>
        </p:txBody>
      </p:sp>
      <p:sp>
        <p:nvSpPr>
          <p:cNvPr id="5" name="derivation-question">
            <a:extLst xmlns:a="http://schemas.openxmlformats.org/drawingml/2006/main">
              <a:ext uri="{FF2B5EF4-FFF2-40B4-BE49-F238E27FC236}">
                <a16:creationId xmlns:a16="http://schemas.microsoft.com/office/drawing/2014/main" id="{ECD2008A-CFD9-4137-A810-489D5D79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72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/>
              <a:t>Question  </a:t>
            </a:r>
            <a:r>
              <a:t>どの項が探索性を生み、数値的不安定性を抑えるのか？</a:t>
            </a:r>
          </a:p>
        </p:txBody>
      </p:sp>
      <p:sp>
        <p:nvSpPr>
          <p:cNvPr id="6" name="equation-frame">
            <a:extLst xmlns:a="http://schemas.openxmlformats.org/drawingml/2006/main">
              <a:ext uri="{FF2B5EF4-FFF2-40B4-BE49-F238E27FC236}">
                <a16:creationId xmlns:a16="http://schemas.microsoft.com/office/drawing/2014/main" id="{3ED689F8-B008-4A19-886F-ED442216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791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7" name="equation-1">
            <a:extLst xmlns:a="http://schemas.openxmlformats.org/drawingml/2006/main">
              <a:ext uri="{FF2B5EF4-FFF2-40B4-BE49-F238E27FC236}">
                <a16:creationId xmlns:a16="http://schemas.microsoft.com/office/drawing/2014/main" id="{899AD7DA-8CBB-437E-A987-2B45478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rPr>
              <a:t>EI(x) = E[max(f(x) − f*, 0)]</a:t>
            </a:r>
          </a:p>
        </p:txBody>
      </p:sp>
      <p:sp>
        <p:nvSpPr>
          <p:cNvPr id="8" name="equation-2">
            <a:extLst xmlns:a="http://schemas.openxmlformats.org/drawingml/2006/main">
              <a:ext uri="{FF2B5EF4-FFF2-40B4-BE49-F238E27FC236}">
                <a16:creationId xmlns:a16="http://schemas.microsoft.com/office/drawing/2014/main" id="{7137FC70-2C3F-4162-A587-54C50C7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502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defRPr>
            </a:pPr>
            <a:r>
              <a:rPr sz="225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rPr>
              <a:t>log EI(x) = log ∫ exp(g(z, x)) dz</a:t>
            </a:r>
          </a:p>
        </p:txBody>
      </p:sp>
      <p:sp>
        <p:nvSpPr>
          <p:cNvPr id="9" name="equation-3">
            <a:extLst xmlns:a="http://schemas.openxmlformats.org/drawingml/2006/main">
              <a:ext uri="{FF2B5EF4-FFF2-40B4-BE49-F238E27FC236}">
                <a16:creationId xmlns:a16="http://schemas.microsoft.com/office/drawing/2014/main" id="{D8B3A80E-75C9-4231-A941-FC41249B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defRPr>
            </a:pPr>
            <a:r>
              <a:rPr sz="2100" b="0">
                <a:solidFill>
                  <a:srgbClr val="111111"/>
                </a:solidFill>
                <a:latin typeface="STIX Two Math"/>
                <a:ea typeface="STIX Two Math"/>
                <a:cs typeface="STIX Two Math"/>
              </a:rPr>
              <a:t>≈ logsumexp(g(z₁,x), …, g(zₘ,x))</a:t>
            </a:r>
          </a:p>
        </p:txBody>
      </p:sp>
      <p:sp>
        <p:nvSpPr>
          <p:cNvPr id="10" name="orange-underline">
            <a:extLst xmlns:a="http://schemas.openxmlformats.org/drawingml/2006/main">
              <a:ext uri="{FF2B5EF4-FFF2-40B4-BE49-F238E27FC236}">
                <a16:creationId xmlns:a16="http://schemas.microsoft.com/office/drawing/2014/main" id="{FD8A6F1B-82B7-4923-A00C-5E6612E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574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300"/>
            </a:solidFill>
            <a:prstDash val="solid"/>
          </a:ln>
        </p:spPr>
      </p:sp>
      <p:sp>
        <p:nvSpPr>
          <p:cNvPr id="11" name="pink-underline">
            <a:extLst xmlns:a="http://schemas.openxmlformats.org/drawingml/2006/main">
              <a:ext uri="{FF2B5EF4-FFF2-40B4-BE49-F238E27FC236}">
                <a16:creationId xmlns:a16="http://schemas.microsoft.com/office/drawing/2014/main" id="{D35610C7-DCEB-466E-9606-11D791D5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F5FA7"/>
            </a:solidFill>
            <a:prstDash val="solid"/>
          </a:ln>
        </p:spPr>
      </p:sp>
      <p:sp>
        <p:nvSpPr>
          <p:cNvPr id="12" name="meaning-tag-1">
            <a:extLst xmlns:a="http://schemas.openxmlformats.org/drawingml/2006/main">
              <a:ext uri="{FF2B5EF4-FFF2-40B4-BE49-F238E27FC236}">
                <a16:creationId xmlns:a16="http://schemas.microsoft.com/office/drawing/2014/main" id="{59B090E1-6E29-42C6-8E01-A35A655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300"/>
          </a:solidFill>
          <a:ln xmlns:a="http://schemas.openxmlformats.org/drawingml/2006/main" w="9525">
            <a:solidFill>
              <a:srgbClr val="FF9300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期待改善量</a:t>
            </a:r>
          </a:p>
        </p:txBody>
      </p:sp>
      <p:sp>
        <p:nvSpPr>
          <p:cNvPr id="13" name="meaning-tag-2">
            <a:extLst xmlns:a="http://schemas.openxmlformats.org/drawingml/2006/main">
              <a:ext uri="{FF2B5EF4-FFF2-40B4-BE49-F238E27FC236}">
                <a16:creationId xmlns:a16="http://schemas.microsoft.com/office/drawing/2014/main" id="{A7E5C9CF-7567-469F-907F-398BD4BC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FA7"/>
          </a:solidFill>
          <a:ln xmlns:a="http://schemas.openxmlformats.org/drawingml/2006/main" w="9525">
            <a:solidFill>
              <a:srgbClr val="EF5FA7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安定な対数化</a:t>
            </a:r>
          </a:p>
        </p:txBody>
      </p:sp>
      <p:sp>
        <p:nvSpPr>
          <p:cNvPr id="14" name="equation-meaning">
            <a:extLst xmlns:a="http://schemas.openxmlformats.org/drawingml/2006/main">
              <a:ext uri="{FF2B5EF4-FFF2-40B4-BE49-F238E27FC236}">
                <a16:creationId xmlns:a16="http://schemas.microsoft.com/office/drawing/2014/main" id="{61375CE5-27F9-475E-B65A-9C86517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式を列挙しない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同じ色で項を追う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最後に意味へ戻す</a:t>
            </a:r>
          </a:p>
        </p:txBody>
      </p:sp>
      <p:sp>
        <p:nvSpPr>
          <p:cNvPr id="15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392ABCD9-78AE-4800-A543-F30C600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055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3B04B51C-9BC0-4B26-99BD-80CFEB20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変形の結果、</a:t>
            </a:r>
            <a:r>
              <a:rPr b="1">
                <a:solidFill>
                  <a:srgbClr val="EE220C"/>
                </a:solidFill>
              </a:rPr>
              <a:t>小さい期待改善量でも勾配を保てる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11B760-3FEA-4644-8039-F592EE3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0D29331-8ECD-483E-B2F0-0821776E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数式の定義・仮定・参照式番号を脚注に置く</a:t>
            </a:r>
          </a:p>
        </p:txBody>
      </p:sp>
    </p:spTree>
    <p:extLst>
      <p:ext uri="{BB962C8B-B14F-4D97-AF65-F5344CB8AC3E}">
        <p14:creationId xmlns:p14="http://schemas.microsoft.com/office/powerpoint/2010/main" val="15654268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DB80A79-85BA-4F76-80F1-5F746452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6518D7D-DA7B-404A-9553-F709A8B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考察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C80882-CD11-4927-BABC-5113EB6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仮説を実験で切り分ける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E5D069-2884-43EF-8F5B-29A824E8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9 /10</a:t>
            </a:r>
          </a:p>
        </p:txBody>
      </p:sp>
      <p:sp>
        <p:nvSpPr>
          <p:cNvPr id="5" name="hypothesis-frame">
            <a:extLst xmlns:a="http://schemas.openxmlformats.org/drawingml/2006/main">
              <a:ext uri="{FF2B5EF4-FFF2-40B4-BE49-F238E27FC236}">
                <a16:creationId xmlns:a16="http://schemas.microsoft.com/office/drawing/2014/main" id="{F839B2C3-6C73-4B34-97EA-729B638A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8877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BA"/>
          </a:solidFill>
          <a:ln xmlns:a="http://schemas.openxmlformats.org/drawingml/2006/main" w="19050">
            <a:solidFill>
              <a:srgbClr val="FF9300"/>
            </a:solidFill>
            <a:prstDash val="solid"/>
          </a:ln>
        </p:spPr>
      </p:sp>
      <p:sp>
        <p:nvSpPr>
          <p:cNvPr id="6" name="hypothesis">
            <a:extLst xmlns:a="http://schemas.openxmlformats.org/drawingml/2006/main">
              <a:ext uri="{FF2B5EF4-FFF2-40B4-BE49-F238E27FC236}">
                <a16:creationId xmlns:a16="http://schemas.microsoft.com/office/drawing/2014/main" id="{205FD355-FF6E-4120-898B-C88A2FC4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/>
              <a:t>仮説  </a:t>
            </a:r>
            <a:r>
              <a:t>改善は「探索の強さ」ではなく、</a:t>
            </a:r>
            <a:r>
              <a:rPr b="1">
                <a:solidFill>
                  <a:srgbClr val="EE220C"/>
                </a:solidFill>
              </a:rPr>
              <a:t>更新則の安定化</a:t>
            </a:r>
            <a:r>
              <a:t>によるのではないか？</a:t>
            </a:r>
          </a:p>
        </p:txBody>
      </p:sp>
      <p:sp>
        <p:nvSpPr>
          <p:cNvPr id="7" name="test-plan">
            <a:extLst xmlns:a="http://schemas.openxmlformats.org/drawingml/2006/main">
              <a:ext uri="{FF2B5EF4-FFF2-40B4-BE49-F238E27FC236}">
                <a16:creationId xmlns:a16="http://schemas.microsoft.com/office/drawing/2014/main" id="{3604AFF3-F0FA-4EA3-A6DB-FC51EA2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57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1. 更新則を除去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2. データ数を固定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3. 同じ試行数で比較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429000" y="2133600"/>
          <a:ext xmlns:a="http://schemas.openxmlformats.org/drawingml/2006/main" cx="27813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a3d9e2775447d7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496050" y="2133600"/>
          <a:ext xmlns:a="http://schemas.openxmlformats.org/drawingml/2006/main" cx="27813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4fe93380a747fd"/>
          </a:graphicData>
        </a:graphic>
      </p:graphicFrame>
      <p:sp>
        <p:nvSpPr>
          <p:cNvPr id="10" name="ablation-a-label">
            <a:extLst xmlns:a="http://schemas.openxmlformats.org/drawingml/2006/main">
              <a:ext uri="{FF2B5EF4-FFF2-40B4-BE49-F238E27FC236}">
                <a16:creationId xmlns:a16="http://schemas.microsoft.com/office/drawing/2014/main" id="{7EC4981E-38E5-477B-8440-7511D685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更新則あり</a:t>
            </a:r>
          </a:p>
        </p:txBody>
      </p:sp>
      <p:sp>
        <p:nvSpPr>
          <p:cNvPr id="11" name="ablation-b-label">
            <a:extLst xmlns:a="http://schemas.openxmlformats.org/drawingml/2006/main">
              <a:ext uri="{FF2B5EF4-FFF2-40B4-BE49-F238E27FC236}">
                <a16:creationId xmlns:a16="http://schemas.microsoft.com/office/drawing/2014/main" id="{B7DA9CD8-8C58-462C-9B12-B7571066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更新則なし</a:t>
            </a:r>
          </a:p>
        </p:txBody>
      </p:sp>
      <p:sp>
        <p:nvSpPr>
          <p:cNvPr id="12" name="test-result">
            <a:extLst xmlns:a="http://schemas.openxmlformats.org/drawingml/2006/main">
              <a:ext uri="{FF2B5EF4-FFF2-40B4-BE49-F238E27FC236}">
                <a16:creationId xmlns:a16="http://schemas.microsoft.com/office/drawing/2014/main" id="{5814F2DE-085E-41AB-8E21-FA47578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594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/>
              <a:t>結果  </a:t>
            </a:r>
            <a:r>
              <a:t>更新則を除くと差が消えた</a:t>
            </a:r>
          </a:p>
        </p:txBody>
      </p:sp>
      <p:sp>
        <p:nvSpPr>
          <p:cNvPr id="13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73A42663-7681-4377-8EDD-B940298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9D35C38E-1A01-44DF-B2C1-97F29CF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改善を生んだ主因は</a:t>
            </a:r>
            <a:r>
              <a:rPr b="1">
                <a:solidFill>
                  <a:srgbClr val="EE220C"/>
                </a:solidFill>
              </a:rPr>
              <a:t>更新則による安定化</a:t>
            </a:r>
            <a:r>
              <a:t>だと考えられる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D818BC-6159-430D-BF4B-2FABD6C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65CFF39-A8A4-498E-8FCF-FABADF9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出典・条件・注記を14–16 pxで配置</a:t>
            </a:r>
          </a:p>
        </p:txBody>
      </p:sp>
    </p:spTree>
    <p:extLst>
      <p:ext uri="{BB962C8B-B14F-4D97-AF65-F5344CB8AC3E}">
        <p14:creationId xmlns:p14="http://schemas.microsoft.com/office/powerpoint/2010/main" val="133435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CD1C035-A702-4011-A9C9-70CD8EE2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01235E-17D3-48F2-9F58-989F9E50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43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結論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803EFB-EC3C-4D3F-8888-447F6C6B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2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得られた知見と次の検証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FAB514-C50D-4DB3-B65B-1512A39B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10/10</a:t>
            </a:r>
          </a:p>
        </p:txBody>
      </p:sp>
      <p:sp>
        <p:nvSpPr>
          <p:cNvPr id="5" name="summary-left">
            <a:extLst xmlns:a="http://schemas.openxmlformats.org/drawingml/2006/main">
              <a:ext uri="{FF2B5EF4-FFF2-40B4-BE49-F238E27FC236}">
                <a16:creationId xmlns:a16="http://schemas.microsoft.com/office/drawing/2014/main" id="{FB8D055F-3152-446B-81B7-EA2F0F4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4248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</p:sp>
      <p:sp>
        <p:nvSpPr>
          <p:cNvPr id="6" name="next-right">
            <a:extLst xmlns:a="http://schemas.openxmlformats.org/drawingml/2006/main">
              <a:ext uri="{FF2B5EF4-FFF2-40B4-BE49-F238E27FC236}">
                <a16:creationId xmlns:a16="http://schemas.microsoft.com/office/drawing/2014/main" id="{0C17A920-492F-4E01-A7D3-DB07531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914400"/>
            <a:ext cx="4248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6BA"/>
            </a:solidFill>
            <a:prstDash val="solid"/>
          </a:ln>
        </p:spPr>
      </p:sp>
      <p:sp>
        <p:nvSpPr>
          <p:cNvPr id="7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E5EBACF9-3409-42DB-ABAA-E793F0A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BA"/>
          </a:solidFill>
          <a:ln xmlns:a="http://schemas.openxmlformats.org/drawingml/2006/main" w="9525">
            <a:solidFill>
              <a:srgbClr val="0076BA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得られた知見</a:t>
            </a:r>
          </a:p>
        </p:txBody>
      </p:sp>
      <p:sp>
        <p:nvSpPr>
          <p:cNvPr id="8" name="next-label">
            <a:extLst xmlns:a="http://schemas.openxmlformats.org/drawingml/2006/main">
              <a:ext uri="{FF2B5EF4-FFF2-40B4-BE49-F238E27FC236}">
                <a16:creationId xmlns:a16="http://schemas.microsoft.com/office/drawing/2014/main" id="{7DFE074A-5FAB-4AEA-9F9C-D08A785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6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D"/>
          </a:solidFill>
          <a:ln xmlns:a="http://schemas.openxmlformats.org/drawingml/2006/main" w="9525">
            <a:solidFill>
              <a:srgbClr val="00A89D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次の検証</a:t>
            </a:r>
          </a:p>
        </p:txBody>
      </p:sp>
      <p:sp>
        <p:nvSpPr>
          <p:cNvPr id="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C8E64B13-F316-4F56-95C9-67086C2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957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高次元で性能差が拡大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擬似データが探索を補助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更新則が安定性に寄与</a:t>
            </a:r>
          </a:p>
        </p:txBody>
      </p:sp>
      <p:sp>
        <p:nvSpPr>
          <p:cNvPr id="10" name="summary-synthesis">
            <a:extLst xmlns:a="http://schemas.openxmlformats.org/drawingml/2006/main">
              <a:ext uri="{FF2B5EF4-FFF2-40B4-BE49-F238E27FC236}">
                <a16:creationId xmlns:a16="http://schemas.microsoft.com/office/drawing/2014/main" id="{AD6470C7-A312-4FB4-8BD2-F74C82D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733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b="1"/>
              <a:t>結論  </a:t>
            </a:r>
            <a:r>
              <a:t>限られた実験予算でも有望領域へ早く到達できる</a:t>
            </a:r>
          </a:p>
        </p:txBody>
      </p:sp>
      <p:sp>
        <p:nvSpPr>
          <p:cNvPr id="11" name="next-bullets">
            <a:extLst xmlns:a="http://schemas.openxmlformats.org/drawingml/2006/main">
              <a:ext uri="{FF2B5EF4-FFF2-40B4-BE49-F238E27FC236}">
                <a16:creationId xmlns:a16="http://schemas.microsoft.com/office/drawing/2014/main" id="{5099B21C-1DF5-47E8-A2DB-F56CB419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36957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実問題で再現性を確認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回帰モデルの頑健性を評価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8"/>
              </a:spcAft>
              <a:buNone/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計算時間をさらに短縮</a:t>
            </a:r>
          </a:p>
        </p:txBody>
      </p:sp>
      <p:sp>
        <p:nvSpPr>
          <p:cNvPr id="12" name="next-timeline">
            <a:extLst xmlns:a="http://schemas.openxmlformats.org/drawingml/2006/main">
              <a:ext uri="{FF2B5EF4-FFF2-40B4-BE49-F238E27FC236}">
                <a16:creationId xmlns:a16="http://schemas.microsoft.com/office/drawing/2014/main" id="{42CC988F-B03E-4E41-8CC3-01E40A62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365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A89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0A89D"/>
                </a:solidFill>
                <a:latin typeface="Hiragino Sans"/>
                <a:ea typeface="Hiragino Sans"/>
                <a:cs typeface="Hiragino Sans"/>
              </a:rPr>
              <a:t>現在  →  実問題  →  手法改良  →  論文化</a:t>
            </a:r>
          </a:p>
        </p:txBody>
      </p:sp>
      <p:sp>
        <p:nvSpPr>
          <p:cNvPr id="13" name="takeaway-message-rule">
            <a:extLst xmlns:a="http://schemas.openxmlformats.org/drawingml/2006/main">
              <a:ext uri="{FF2B5EF4-FFF2-40B4-BE49-F238E27FC236}">
                <a16:creationId xmlns:a16="http://schemas.microsoft.com/office/drawing/2014/main" id="{04558E97-9918-4CD4-BE5B-3292F75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293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takeaway-message">
            <a:extLst xmlns:a="http://schemas.openxmlformats.org/drawingml/2006/main">
              <a:ext uri="{FF2B5EF4-FFF2-40B4-BE49-F238E27FC236}">
                <a16:creationId xmlns:a16="http://schemas.microsoft.com/office/drawing/2014/main" id="{123986B9-E614-45D1-B8A2-42438A5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t>次は実問題で再現性を確かめ、</a:t>
            </a:r>
            <a:r>
              <a:rPr b="1">
                <a:solidFill>
                  <a:srgbClr val="EE220C"/>
                </a:solidFill>
              </a:rPr>
              <a:t>適用可能な条件を明確にする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A17561-8FB5-4CB2-BA5A-D9C4E0C0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99135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E427A67-8313-4287-9373-113B2A10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0294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結論は冒頭の問いへ戻し、次の行動で閉じる</a:t>
            </a:r>
          </a:p>
        </p:txBody>
      </p:sp>
    </p:spTree>
    <p:extLst>
      <p:ext uri="{BB962C8B-B14F-4D97-AF65-F5344CB8AC3E}">
        <p14:creationId xmlns:p14="http://schemas.microsoft.com/office/powerpoint/2010/main" val="1475823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2026-08-11T16:36:46.4320000Z</dcterms:created>
  <dcterms:modified xsi:type="dcterms:W3CDTF">2026-08-11T16:36:46.4320000Z</dcterms:modified>
</coreProperties>
</file>